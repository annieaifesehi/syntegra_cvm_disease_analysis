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7" r:id="rId2"/>
    <p:sldId id="258" r:id="rId3"/>
    <p:sldId id="262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7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0DC05-9442-4A08-9604-F31BB3507B95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7DF86-50EC-4172-8351-F723D55C2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89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https://www.syntegra.io/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3FBDB2-209A-4AB2-82AA-8D66465E55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4641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CCLF overview: https://www.crisphealth.org/learning-system/crs/medicarerpts/cclf-data-basics/#:~:text=The%20CCLF%20(Claim%20and%20Claim,Equipment%2C%20and%20Prescription%20Drug%20services.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3FBDB2-209A-4AB2-82AA-8D66465E55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7154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https://www.syntegra.io/try-syntegra-data</a:t>
            </a:r>
          </a:p>
          <a:p>
            <a:r>
              <a:rPr lang="en-US" dirty="0"/>
              <a:t>https://thetuvaproject.com/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3FBDB2-209A-4AB2-82AA-8D66465E55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4052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3FBDB2-209A-4AB2-82AA-8D66465E55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8940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Main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icture Placeholder 7">
            <a:extLst>
              <a:ext uri="{FF2B5EF4-FFF2-40B4-BE49-F238E27FC236}">
                <a16:creationId xmlns:a16="http://schemas.microsoft.com/office/drawing/2014/main" id="{4D8A649D-2D1A-4B5E-BE22-14CFD9EA0E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45408" y="3935268"/>
            <a:ext cx="1700810" cy="733713"/>
          </a:xfrm>
        </p:spPr>
        <p:txBody>
          <a:bodyPr>
            <a:normAutofit/>
          </a:bodyPr>
          <a:lstStyle>
            <a:lvl1pPr marL="0" indent="0" algn="ctr" defTabSz="914400" rtl="0" eaLnBrk="1" latinLnBrk="0" hangingPunct="1">
              <a:buNone/>
              <a:defRPr lang="en-US" sz="1800" kern="1200" dirty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Client Logo Placeholder</a:t>
            </a: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9AAB86EC-D172-4E21-8004-EC122206F0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386" y="1468582"/>
            <a:ext cx="7276232" cy="1268989"/>
          </a:xfrm>
        </p:spPr>
        <p:txBody>
          <a:bodyPr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defRPr lang="en-US" sz="4400" kern="1200" cap="none" baseline="0" dirty="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</a:lstStyle>
          <a:p>
            <a:pPr>
              <a:lnSpc>
                <a:spcPts val="5000"/>
              </a:lnSpc>
            </a:pPr>
            <a:r>
              <a:rPr lang="en-US" sz="4400" cap="all" dirty="0">
                <a:latin typeface="Franklin Gothic Book" panose="020B0503020102020204" pitchFamily="34" charset="0"/>
              </a:rPr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111792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801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8">
            <a:extLst>
              <a:ext uri="{FF2B5EF4-FFF2-40B4-BE49-F238E27FC236}">
                <a16:creationId xmlns:a16="http://schemas.microsoft.com/office/drawing/2014/main" id="{C418F9FA-02C0-4514-813F-AD287AB295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387" y="6257999"/>
            <a:ext cx="523635" cy="523635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C79B08C-BCB0-48A0-B813-3BDFB8269145}"/>
              </a:ext>
            </a:extLst>
          </p:cNvPr>
          <p:cNvSpPr txBox="1">
            <a:spLocks/>
          </p:cNvSpPr>
          <p:nvPr userDrawn="1"/>
        </p:nvSpPr>
        <p:spPr>
          <a:xfrm>
            <a:off x="11176288" y="6374441"/>
            <a:ext cx="661988" cy="26953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36B7D2-B98C-44FD-8D04-7EC62A564975}" type="slidenum">
              <a:rPr lang="en-US" sz="2000" b="1" smtClean="0">
                <a:solidFill>
                  <a:schemeClr val="bg1"/>
                </a:solidFill>
              </a:rPr>
              <a:pPr/>
              <a:t>‹#›</a:t>
            </a:fld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FCEFABD-F43E-47A4-9596-581A8F7FE6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036" y="167683"/>
            <a:ext cx="11154364" cy="777240"/>
          </a:xfrm>
          <a:prstGeom prst="rect">
            <a:avLst/>
          </a:prstGeom>
        </p:spPr>
        <p:txBody>
          <a:bodyPr lIns="0" rIns="0" anchor="b">
            <a:noAutofit/>
          </a:bodyPr>
          <a:lstStyle>
            <a:lvl1pPr>
              <a:lnSpc>
                <a:spcPct val="80000"/>
              </a:lnSpc>
              <a:defRPr sz="2800" cap="none" baseline="0">
                <a:solidFill>
                  <a:schemeClr val="tx1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E482266-34A7-436D-B5B6-CA9CF08EB1D8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28035" y="925173"/>
            <a:ext cx="11168220" cy="287729"/>
          </a:xfrm>
        </p:spPr>
        <p:txBody>
          <a:bodyPr lIns="0" tIns="45720" rIns="0" bIns="45720" anchor="ctr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1600" b="0" cap="none" baseline="0">
                <a:solidFill>
                  <a:schemeClr val="bg1">
                    <a:lumMod val="65000"/>
                  </a:schemeClr>
                </a:solidFill>
                <a:latin typeface="Franklin Gothic Book" panose="020B0503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3" name="Freeform 5">
            <a:extLst>
              <a:ext uri="{FF2B5EF4-FFF2-40B4-BE49-F238E27FC236}">
                <a16:creationId xmlns:a16="http://schemas.microsoft.com/office/drawing/2014/main" id="{0CB9C3E4-873B-4A04-8C02-48338A0123B3}"/>
              </a:ext>
            </a:extLst>
          </p:cNvPr>
          <p:cNvSpPr>
            <a:spLocks/>
          </p:cNvSpPr>
          <p:nvPr userDrawn="1"/>
        </p:nvSpPr>
        <p:spPr bwMode="auto">
          <a:xfrm>
            <a:off x="11733553" y="6336172"/>
            <a:ext cx="458447" cy="521828"/>
          </a:xfrm>
          <a:custGeom>
            <a:avLst/>
            <a:gdLst>
              <a:gd name="T0" fmla="*/ 124 w 124"/>
              <a:gd name="T1" fmla="*/ 47 h 141"/>
              <a:gd name="T2" fmla="*/ 124 w 124"/>
              <a:gd name="T3" fmla="*/ 0 h 141"/>
              <a:gd name="T4" fmla="*/ 0 w 124"/>
              <a:gd name="T5" fmla="*/ 141 h 141"/>
              <a:gd name="T6" fmla="*/ 44 w 124"/>
              <a:gd name="T7" fmla="*/ 141 h 141"/>
              <a:gd name="T8" fmla="*/ 124 w 124"/>
              <a:gd name="T9" fmla="*/ 47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4" h="141">
                <a:moveTo>
                  <a:pt x="124" y="47"/>
                </a:moveTo>
                <a:cubicBezTo>
                  <a:pt x="124" y="0"/>
                  <a:pt x="124" y="0"/>
                  <a:pt x="124" y="0"/>
                </a:cubicBezTo>
                <a:cubicBezTo>
                  <a:pt x="70" y="34"/>
                  <a:pt x="27" y="83"/>
                  <a:pt x="0" y="141"/>
                </a:cubicBezTo>
                <a:cubicBezTo>
                  <a:pt x="44" y="141"/>
                  <a:pt x="44" y="141"/>
                  <a:pt x="44" y="141"/>
                </a:cubicBezTo>
                <a:cubicBezTo>
                  <a:pt x="64" y="105"/>
                  <a:pt x="91" y="72"/>
                  <a:pt x="124" y="47"/>
                </a:cubicBezTo>
                <a:close/>
              </a:path>
            </a:pathLst>
          </a:custGeom>
          <a:solidFill>
            <a:srgbClr val="4243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550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7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730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79">
            <a:extLst>
              <a:ext uri="{FF2B5EF4-FFF2-40B4-BE49-F238E27FC236}">
                <a16:creationId xmlns:a16="http://schemas.microsoft.com/office/drawing/2014/main" id="{0B8CE3DD-F0CA-4D9A-8CE3-5AB82DE4AD29}"/>
              </a:ext>
            </a:extLst>
          </p:cNvPr>
          <p:cNvSpPr/>
          <p:nvPr userDrawn="1"/>
        </p:nvSpPr>
        <p:spPr>
          <a:xfrm>
            <a:off x="4324350" y="4544016"/>
            <a:ext cx="3543300" cy="39868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Franklin Gothic Book" panose="020B0503020102020204" pitchFamily="34" charset="0"/>
                <a:cs typeface="Arial" panose="020B0604020202020204" pitchFamily="34" charset="0"/>
              </a:rPr>
              <a:t>Do you have a question for us?</a:t>
            </a:r>
          </a:p>
        </p:txBody>
      </p:sp>
    </p:spTree>
    <p:extLst>
      <p:ext uri="{BB962C8B-B14F-4D97-AF65-F5344CB8AC3E}">
        <p14:creationId xmlns:p14="http://schemas.microsoft.com/office/powerpoint/2010/main" val="1835587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8429D-ED11-4F9D-9A73-F162C9156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3C82E-9F9C-4000-9384-5D13B005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E72A-E81D-40ED-B395-DF921FE945F7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ECB88-ACD0-4EF2-B41C-D13FB7731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BE649-97DE-4332-80DB-EDF5D1C1A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F3AE-8146-4F2C-BF74-F7B3E078A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01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21D9D-A0B5-470D-A690-7DF8F3B13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9B306C-4A5F-49D6-8BF5-4595881A6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9A344-87A3-43B4-9614-C6C84D866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E72A-E81D-40ED-B395-DF921FE945F7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9CDE3-3BFF-4DB2-A685-4A63B06F5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8879F-0A5F-4820-A4B8-D4547D862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F3AE-8146-4F2C-BF74-F7B3E078A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56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9491" y="365125"/>
            <a:ext cx="11346873" cy="812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9491" y="1385456"/>
            <a:ext cx="11346873" cy="4791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282145-8A2D-438D-9000-6A1A69DCB8CD}"/>
              </a:ext>
            </a:extLst>
          </p:cNvPr>
          <p:cNvCxnSpPr/>
          <p:nvPr/>
        </p:nvCxnSpPr>
        <p:spPr>
          <a:xfrm>
            <a:off x="-228600" y="1371600"/>
            <a:ext cx="228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ADE3C7-0FB2-4CE8-AC30-F53DC63B7E1C}"/>
              </a:ext>
            </a:extLst>
          </p:cNvPr>
          <p:cNvCxnSpPr/>
          <p:nvPr/>
        </p:nvCxnSpPr>
        <p:spPr>
          <a:xfrm>
            <a:off x="-228600" y="3771900"/>
            <a:ext cx="228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D99322-F55C-4B17-905E-329A487524F8}"/>
              </a:ext>
            </a:extLst>
          </p:cNvPr>
          <p:cNvCxnSpPr/>
          <p:nvPr/>
        </p:nvCxnSpPr>
        <p:spPr>
          <a:xfrm>
            <a:off x="-228600" y="6176963"/>
            <a:ext cx="228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815B7B-D5F8-43D5-ADEF-3EBD685486C8}"/>
              </a:ext>
            </a:extLst>
          </p:cNvPr>
          <p:cNvGrpSpPr/>
          <p:nvPr userDrawn="1"/>
        </p:nvGrpSpPr>
        <p:grpSpPr>
          <a:xfrm>
            <a:off x="422564" y="6858000"/>
            <a:ext cx="11353800" cy="228600"/>
            <a:chOff x="419100" y="-203200"/>
            <a:chExt cx="11353800" cy="2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AC87C59-F32F-4737-9741-EC516B118485}"/>
                </a:ext>
              </a:extLst>
            </p:cNvPr>
            <p:cNvCxnSpPr/>
            <p:nvPr/>
          </p:nvCxnSpPr>
          <p:spPr>
            <a:xfrm>
              <a:off x="5981700" y="-203200"/>
              <a:ext cx="0" cy="2286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9B3FB5-602A-47A6-86C7-265B9952C2A2}"/>
                </a:ext>
              </a:extLst>
            </p:cNvPr>
            <p:cNvCxnSpPr/>
            <p:nvPr/>
          </p:nvCxnSpPr>
          <p:spPr>
            <a:xfrm>
              <a:off x="6096000" y="-203200"/>
              <a:ext cx="0" cy="2286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E9C5F59-C59F-418B-B9A8-97B62B7BACC6}"/>
                </a:ext>
              </a:extLst>
            </p:cNvPr>
            <p:cNvCxnSpPr/>
            <p:nvPr/>
          </p:nvCxnSpPr>
          <p:spPr>
            <a:xfrm>
              <a:off x="6210300" y="-203200"/>
              <a:ext cx="0" cy="2286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856E5AD-CA65-4CA6-AB4E-B0E6A2781345}"/>
                </a:ext>
              </a:extLst>
            </p:cNvPr>
            <p:cNvCxnSpPr/>
            <p:nvPr userDrawn="1"/>
          </p:nvCxnSpPr>
          <p:spPr>
            <a:xfrm>
              <a:off x="419100" y="-203200"/>
              <a:ext cx="0" cy="2286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764A848-BB3F-41C9-92EB-8BBD2E3E4B33}"/>
                </a:ext>
              </a:extLst>
            </p:cNvPr>
            <p:cNvCxnSpPr/>
            <p:nvPr userDrawn="1"/>
          </p:nvCxnSpPr>
          <p:spPr>
            <a:xfrm>
              <a:off x="11772900" y="-203200"/>
              <a:ext cx="0" cy="2286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82D08E9-0D74-4F54-BEEF-A70E1ACA0E96}"/>
              </a:ext>
            </a:extLst>
          </p:cNvPr>
          <p:cNvCxnSpPr/>
          <p:nvPr/>
        </p:nvCxnSpPr>
        <p:spPr>
          <a:xfrm>
            <a:off x="12192000" y="1371600"/>
            <a:ext cx="228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9D348F-96FD-4E01-9D3E-9164F479C23C}"/>
              </a:ext>
            </a:extLst>
          </p:cNvPr>
          <p:cNvCxnSpPr/>
          <p:nvPr/>
        </p:nvCxnSpPr>
        <p:spPr>
          <a:xfrm>
            <a:off x="12192000" y="3771900"/>
            <a:ext cx="228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B1C02F7-D2F7-4D69-8238-D86511B3F316}"/>
              </a:ext>
            </a:extLst>
          </p:cNvPr>
          <p:cNvCxnSpPr/>
          <p:nvPr/>
        </p:nvCxnSpPr>
        <p:spPr>
          <a:xfrm>
            <a:off x="12192000" y="6176963"/>
            <a:ext cx="228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2B1DAB-DEB4-4E9B-995F-52BA7D652CA7}"/>
              </a:ext>
            </a:extLst>
          </p:cNvPr>
          <p:cNvGrpSpPr/>
          <p:nvPr userDrawn="1"/>
        </p:nvGrpSpPr>
        <p:grpSpPr>
          <a:xfrm>
            <a:off x="422564" y="-239488"/>
            <a:ext cx="11353800" cy="228600"/>
            <a:chOff x="419100" y="-203200"/>
            <a:chExt cx="11353800" cy="2286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AC9DF71-0AF4-4409-8A30-5D5599C687BE}"/>
                </a:ext>
              </a:extLst>
            </p:cNvPr>
            <p:cNvCxnSpPr/>
            <p:nvPr/>
          </p:nvCxnSpPr>
          <p:spPr>
            <a:xfrm>
              <a:off x="5981700" y="-203200"/>
              <a:ext cx="0" cy="2286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3C4D288-E0E4-4108-AE67-8F499271AFD0}"/>
                </a:ext>
              </a:extLst>
            </p:cNvPr>
            <p:cNvCxnSpPr/>
            <p:nvPr/>
          </p:nvCxnSpPr>
          <p:spPr>
            <a:xfrm>
              <a:off x="6096000" y="-203200"/>
              <a:ext cx="0" cy="2286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A3E9BE-986E-4A9E-8513-F19B9654AA2B}"/>
                </a:ext>
              </a:extLst>
            </p:cNvPr>
            <p:cNvCxnSpPr/>
            <p:nvPr/>
          </p:nvCxnSpPr>
          <p:spPr>
            <a:xfrm>
              <a:off x="6210300" y="-203200"/>
              <a:ext cx="0" cy="2286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22D520-D645-4E85-B38C-3FACB10BF6F5}"/>
                </a:ext>
              </a:extLst>
            </p:cNvPr>
            <p:cNvCxnSpPr/>
            <p:nvPr userDrawn="1"/>
          </p:nvCxnSpPr>
          <p:spPr>
            <a:xfrm>
              <a:off x="419100" y="-203200"/>
              <a:ext cx="0" cy="2286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60F6947-AF12-4055-ACFD-1A77DC2AB56D}"/>
                </a:ext>
              </a:extLst>
            </p:cNvPr>
            <p:cNvCxnSpPr/>
            <p:nvPr userDrawn="1"/>
          </p:nvCxnSpPr>
          <p:spPr>
            <a:xfrm>
              <a:off x="11772900" y="-203200"/>
              <a:ext cx="0" cy="2286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27086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sldNum="0" hdr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lang="en-US" sz="4000" kern="1200" cap="all" baseline="0" dirty="0">
          <a:solidFill>
            <a:schemeClr val="tx1"/>
          </a:solidFill>
          <a:latin typeface="Franklin Gothic Heavy" panose="020B09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225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2150" indent="-2349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225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9350" indent="-23495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34100BD-773A-4822-A05B-AEB7D41E9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A437B-3FC2-40C1-AE8F-0DEF2D855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kern="1200" dirty="0">
                <a:solidFill>
                  <a:schemeClr val="tx1"/>
                </a:solidFill>
              </a:rPr>
              <a:t>Syntegra Data – Overview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01B293-D4C4-B0EF-FD68-842162FDA241}"/>
              </a:ext>
            </a:extLst>
          </p:cNvPr>
          <p:cNvSpPr txBox="1"/>
          <p:nvPr/>
        </p:nvSpPr>
        <p:spPr>
          <a:xfrm>
            <a:off x="838201" y="2013625"/>
            <a:ext cx="4614759" cy="4163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8925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Syntegra provides “</a:t>
            </a:r>
            <a:r>
              <a:rPr lang="en-US" sz="1700" b="0" i="0" dirty="0">
                <a:effectLst/>
              </a:rPr>
              <a:t>accurate, privacy-preserved synthetic </a:t>
            </a:r>
            <a:r>
              <a:rPr lang="en-US" sz="1700" dirty="0"/>
              <a:t>[healthcare] </a:t>
            </a:r>
            <a:r>
              <a:rPr lang="en-US" sz="1700" b="0" i="0" dirty="0">
                <a:effectLst/>
              </a:rPr>
              <a:t>data” that is generated by modern </a:t>
            </a:r>
            <a:r>
              <a:rPr lang="en-US" sz="1700" dirty="0"/>
              <a:t>machine learning and artificial intelligence algorithms and models</a:t>
            </a:r>
          </a:p>
          <a:p>
            <a:pPr marL="288925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0" i="0" dirty="0">
                <a:effectLst/>
              </a:rPr>
              <a:t>The data can be used for analysis, insights, modeling, </a:t>
            </a:r>
            <a:r>
              <a:rPr lang="en-US" sz="1700" dirty="0"/>
              <a:t>predictions, and research </a:t>
            </a:r>
            <a:r>
              <a:rPr lang="en-US" sz="1700" b="0" i="0" dirty="0">
                <a:effectLst/>
              </a:rPr>
              <a:t>without worrying about privacy concerns </a:t>
            </a:r>
          </a:p>
          <a:p>
            <a:pPr marL="288925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In particular, Syntegra provides datasets that exemplify real-life medical claims</a:t>
            </a:r>
          </a:p>
          <a:p>
            <a:pPr marL="746125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Medical claims can contain information such as dates of service, diagnosis code, admission code, provider’s NPI ID, paid claim amount</a:t>
            </a:r>
            <a:endParaRPr kumimoji="0" lang="en-US" sz="17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A2AEA56-4902-4CC1-A43B-1AC27C88C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1338" y="2015168"/>
            <a:ext cx="5283866" cy="4210442"/>
          </a:xfrm>
          <a:custGeom>
            <a:avLst/>
            <a:gdLst>
              <a:gd name="connsiteX0" fmla="*/ 839883 w 5283866"/>
              <a:gd name="connsiteY0" fmla="*/ 18 h 4210442"/>
              <a:gd name="connsiteX1" fmla="*/ 875727 w 5283866"/>
              <a:gd name="connsiteY1" fmla="*/ 6050 h 4210442"/>
              <a:gd name="connsiteX2" fmla="*/ 1624617 w 5283866"/>
              <a:gd name="connsiteY2" fmla="*/ 99799 h 4210442"/>
              <a:gd name="connsiteX3" fmla="*/ 2328012 w 5283866"/>
              <a:gd name="connsiteY3" fmla="*/ 148051 h 4210442"/>
              <a:gd name="connsiteX4" fmla="*/ 3177820 w 5283866"/>
              <a:gd name="connsiteY4" fmla="*/ 228566 h 4210442"/>
              <a:gd name="connsiteX5" fmla="*/ 3770646 w 5283866"/>
              <a:gd name="connsiteY5" fmla="*/ 252831 h 4210442"/>
              <a:gd name="connsiteX6" fmla="*/ 3800149 w 5283866"/>
              <a:gd name="connsiteY6" fmla="*/ 251727 h 4210442"/>
              <a:gd name="connsiteX7" fmla="*/ 4102076 w 5283866"/>
              <a:gd name="connsiteY7" fmla="*/ 288400 h 4210442"/>
              <a:gd name="connsiteX8" fmla="*/ 3904377 w 5283866"/>
              <a:gd name="connsiteY8" fmla="*/ 446120 h 4210442"/>
              <a:gd name="connsiteX9" fmla="*/ 4188933 w 5283866"/>
              <a:gd name="connsiteY9" fmla="*/ 520843 h 4210442"/>
              <a:gd name="connsiteX10" fmla="*/ 4465492 w 5283866"/>
              <a:gd name="connsiteY10" fmla="*/ 626449 h 4210442"/>
              <a:gd name="connsiteX11" fmla="*/ 4517606 w 5283866"/>
              <a:gd name="connsiteY11" fmla="*/ 670015 h 4210442"/>
              <a:gd name="connsiteX12" fmla="*/ 4948576 w 5283866"/>
              <a:gd name="connsiteY12" fmla="*/ 954847 h 4210442"/>
              <a:gd name="connsiteX13" fmla="*/ 4866132 w 5283866"/>
              <a:gd name="connsiteY13" fmla="*/ 1015233 h 4210442"/>
              <a:gd name="connsiteX14" fmla="*/ 5019164 w 5283866"/>
              <a:gd name="connsiteY14" fmla="*/ 1087474 h 4210442"/>
              <a:gd name="connsiteX15" fmla="*/ 5053630 w 5283866"/>
              <a:gd name="connsiteY15" fmla="*/ 1117806 h 4210442"/>
              <a:gd name="connsiteX16" fmla="*/ 5024404 w 5283866"/>
              <a:gd name="connsiteY16" fmla="*/ 1154202 h 4210442"/>
              <a:gd name="connsiteX17" fmla="*/ 4960984 w 5283866"/>
              <a:gd name="connsiteY17" fmla="*/ 1179569 h 4210442"/>
              <a:gd name="connsiteX18" fmla="*/ 4876887 w 5283866"/>
              <a:gd name="connsiteY18" fmla="*/ 1243814 h 4210442"/>
              <a:gd name="connsiteX19" fmla="*/ 4880195 w 5283866"/>
              <a:gd name="connsiteY19" fmla="*/ 1293998 h 4210442"/>
              <a:gd name="connsiteX20" fmla="*/ 4930104 w 5283866"/>
              <a:gd name="connsiteY20" fmla="*/ 1384991 h 4210442"/>
              <a:gd name="connsiteX21" fmla="*/ 4855103 w 5283866"/>
              <a:gd name="connsiteY21" fmla="*/ 1480119 h 4210442"/>
              <a:gd name="connsiteX22" fmla="*/ 4816500 w 5283866"/>
              <a:gd name="connsiteY22" fmla="*/ 1508242 h 4210442"/>
              <a:gd name="connsiteX23" fmla="*/ 4890949 w 5283866"/>
              <a:gd name="connsiteY23" fmla="*/ 1517893 h 4210442"/>
              <a:gd name="connsiteX24" fmla="*/ 4916868 w 5283866"/>
              <a:gd name="connsiteY24" fmla="*/ 1557599 h 4210442"/>
              <a:gd name="connsiteX25" fmla="*/ 4928448 w 5283866"/>
              <a:gd name="connsiteY25" fmla="*/ 1577453 h 4210442"/>
              <a:gd name="connsiteX26" fmla="*/ 4998760 w 5283866"/>
              <a:gd name="connsiteY26" fmla="*/ 1701809 h 4210442"/>
              <a:gd name="connsiteX27" fmla="*/ 4986903 w 5283866"/>
              <a:gd name="connsiteY27" fmla="*/ 1736550 h 4210442"/>
              <a:gd name="connsiteX28" fmla="*/ 4869716 w 5283866"/>
              <a:gd name="connsiteY28" fmla="*/ 1904472 h 4210442"/>
              <a:gd name="connsiteX29" fmla="*/ 4994348 w 5283866"/>
              <a:gd name="connsiteY29" fmla="*/ 1951346 h 4210442"/>
              <a:gd name="connsiteX30" fmla="*/ 5001792 w 5283866"/>
              <a:gd name="connsiteY30" fmla="*/ 2030756 h 4210442"/>
              <a:gd name="connsiteX31" fmla="*/ 5065212 w 5283866"/>
              <a:gd name="connsiteY31" fmla="*/ 2119543 h 4210442"/>
              <a:gd name="connsiteX32" fmla="*/ 5204732 w 5283866"/>
              <a:gd name="connsiteY32" fmla="*/ 2244450 h 4210442"/>
              <a:gd name="connsiteX33" fmla="*/ 5283866 w 5283866"/>
              <a:gd name="connsiteY33" fmla="*/ 2328272 h 4210442"/>
              <a:gd name="connsiteX34" fmla="*/ 5147380 w 5283866"/>
              <a:gd name="connsiteY34" fmla="*/ 2350606 h 4210442"/>
              <a:gd name="connsiteX35" fmla="*/ 5126148 w 5283866"/>
              <a:gd name="connsiteY35" fmla="*/ 2363566 h 4210442"/>
              <a:gd name="connsiteX36" fmla="*/ 5142417 w 5283866"/>
              <a:gd name="connsiteY36" fmla="*/ 2407682 h 4210442"/>
              <a:gd name="connsiteX37" fmla="*/ 5164200 w 5283866"/>
              <a:gd name="connsiteY37" fmla="*/ 2451526 h 4210442"/>
              <a:gd name="connsiteX38" fmla="*/ 5149034 w 5283866"/>
              <a:gd name="connsiteY38" fmla="*/ 2485992 h 4210442"/>
              <a:gd name="connsiteX39" fmla="*/ 5042601 w 5283866"/>
              <a:gd name="connsiteY39" fmla="*/ 2635164 h 4210442"/>
              <a:gd name="connsiteX40" fmla="*/ 4955194 w 5283866"/>
              <a:gd name="connsiteY40" fmla="*/ 2694445 h 4210442"/>
              <a:gd name="connsiteX41" fmla="*/ 4756116 w 5283866"/>
              <a:gd name="connsiteY41" fmla="*/ 2963836 h 4210442"/>
              <a:gd name="connsiteX42" fmla="*/ 4693523 w 5283866"/>
              <a:gd name="connsiteY42" fmla="*/ 3051244 h 4210442"/>
              <a:gd name="connsiteX43" fmla="*/ 4739848 w 5283866"/>
              <a:gd name="connsiteY43" fmla="*/ 3082125 h 4210442"/>
              <a:gd name="connsiteX44" fmla="*/ 4651060 w 5283866"/>
              <a:gd name="connsiteY44" fmla="*/ 3173670 h 4210442"/>
              <a:gd name="connsiteX45" fmla="*/ 4546556 w 5283866"/>
              <a:gd name="connsiteY45" fmla="*/ 3275413 h 4210442"/>
              <a:gd name="connsiteX46" fmla="*/ 4519261 w 5283866"/>
              <a:gd name="connsiteY46" fmla="*/ 3302437 h 4210442"/>
              <a:gd name="connsiteX47" fmla="*/ 2364961 w 5283866"/>
              <a:gd name="connsiteY47" fmla="*/ 4209597 h 4210442"/>
              <a:gd name="connsiteX48" fmla="*/ 1796951 w 5283866"/>
              <a:gd name="connsiteY48" fmla="*/ 4075867 h 4210442"/>
              <a:gd name="connsiteX49" fmla="*/ 1572227 w 5283866"/>
              <a:gd name="connsiteY49" fmla="*/ 3971917 h 4210442"/>
              <a:gd name="connsiteX50" fmla="*/ 1284364 w 5283866"/>
              <a:gd name="connsiteY50" fmla="*/ 3805097 h 4210442"/>
              <a:gd name="connsiteX51" fmla="*/ 976645 w 5283866"/>
              <a:gd name="connsiteY51" fmla="*/ 3670815 h 4210442"/>
              <a:gd name="connsiteX52" fmla="*/ 871866 w 5283866"/>
              <a:gd name="connsiteY52" fmla="*/ 3547839 h 4210442"/>
              <a:gd name="connsiteX53" fmla="*/ 835195 w 5283866"/>
              <a:gd name="connsiteY53" fmla="*/ 3513373 h 4210442"/>
              <a:gd name="connsiteX54" fmla="*/ 743375 w 5283866"/>
              <a:gd name="connsiteY54" fmla="*/ 3468427 h 4210442"/>
              <a:gd name="connsiteX55" fmla="*/ 583175 w 5283866"/>
              <a:gd name="connsiteY55" fmla="*/ 3371370 h 4210442"/>
              <a:gd name="connsiteX56" fmla="*/ 641906 w 5283866"/>
              <a:gd name="connsiteY56" fmla="*/ 3349311 h 4210442"/>
              <a:gd name="connsiteX57" fmla="*/ 810930 w 5283866"/>
              <a:gd name="connsiteY57" fmla="*/ 3408042 h 4210442"/>
              <a:gd name="connsiteX58" fmla="*/ 933908 w 5283866"/>
              <a:gd name="connsiteY58" fmla="*/ 3423758 h 4210442"/>
              <a:gd name="connsiteX59" fmla="*/ 760747 w 5283866"/>
              <a:gd name="connsiteY59" fmla="*/ 3321187 h 4210442"/>
              <a:gd name="connsiteX60" fmla="*/ 593101 w 5283866"/>
              <a:gd name="connsiteY60" fmla="*/ 3187731 h 4210442"/>
              <a:gd name="connsiteX61" fmla="*/ 722419 w 5283866"/>
              <a:gd name="connsiteY61" fmla="*/ 3213374 h 4210442"/>
              <a:gd name="connsiteX62" fmla="*/ 727934 w 5283866"/>
              <a:gd name="connsiteY62" fmla="*/ 3195451 h 4210442"/>
              <a:gd name="connsiteX63" fmla="*/ 615987 w 5283866"/>
              <a:gd name="connsiteY63" fmla="*/ 3036630 h 4210442"/>
              <a:gd name="connsiteX64" fmla="*/ 560564 w 5283866"/>
              <a:gd name="connsiteY64" fmla="*/ 2972660 h 4210442"/>
              <a:gd name="connsiteX65" fmla="*/ 311302 w 5283866"/>
              <a:gd name="connsiteY65" fmla="*/ 2779924 h 4210442"/>
              <a:gd name="connsiteX66" fmla="*/ 547882 w 5283866"/>
              <a:gd name="connsiteY66" fmla="*/ 2865952 h 4210442"/>
              <a:gd name="connsiteX67" fmla="*/ 303582 w 5283866"/>
              <a:gd name="connsiteY67" fmla="*/ 2678453 h 4210442"/>
              <a:gd name="connsiteX68" fmla="*/ 185016 w 5283866"/>
              <a:gd name="connsiteY68" fmla="*/ 2609244 h 4210442"/>
              <a:gd name="connsiteX69" fmla="*/ 154963 w 5283866"/>
              <a:gd name="connsiteY69" fmla="*/ 2568435 h 4210442"/>
              <a:gd name="connsiteX70" fmla="*/ 207627 w 5283866"/>
              <a:gd name="connsiteY70" fmla="*/ 2559612 h 4210442"/>
              <a:gd name="connsiteX71" fmla="*/ 369207 w 5283866"/>
              <a:gd name="connsiteY71" fmla="*/ 2575330 h 4210442"/>
              <a:gd name="connsiteX72" fmla="*/ 169852 w 5283866"/>
              <a:gd name="connsiteY72" fmla="*/ 2449319 h 4210442"/>
              <a:gd name="connsiteX73" fmla="*/ 319299 w 5283866"/>
              <a:gd name="connsiteY73" fmla="*/ 2468619 h 4210442"/>
              <a:gd name="connsiteX74" fmla="*/ 362313 w 5283866"/>
              <a:gd name="connsiteY74" fmla="*/ 2418988 h 4210442"/>
              <a:gd name="connsiteX75" fmla="*/ 431798 w 5283866"/>
              <a:gd name="connsiteY75" fmla="*/ 2338750 h 4210442"/>
              <a:gd name="connsiteX76" fmla="*/ 479775 w 5283866"/>
              <a:gd name="connsiteY76" fmla="*/ 2294082 h 4210442"/>
              <a:gd name="connsiteX77" fmla="*/ 499903 w 5283866"/>
              <a:gd name="connsiteY77" fmla="*/ 2153458 h 4210442"/>
              <a:gd name="connsiteX78" fmla="*/ 458544 w 5283866"/>
              <a:gd name="connsiteY78" fmla="*/ 1999599 h 4210442"/>
              <a:gd name="connsiteX79" fmla="*/ 346596 w 5283866"/>
              <a:gd name="connsiteY79" fmla="*/ 1921843 h 4210442"/>
              <a:gd name="connsiteX80" fmla="*/ 378857 w 5283866"/>
              <a:gd name="connsiteY80" fmla="*/ 1834435 h 4210442"/>
              <a:gd name="connsiteX81" fmla="*/ 617091 w 5283866"/>
              <a:gd name="connsiteY81" fmla="*/ 1887376 h 4210442"/>
              <a:gd name="connsiteX82" fmla="*/ 260568 w 5283866"/>
              <a:gd name="connsiteY82" fmla="*/ 1679198 h 4210442"/>
              <a:gd name="connsiteX83" fmla="*/ 320402 w 5283866"/>
              <a:gd name="connsiteY83" fmla="*/ 1668720 h 4210442"/>
              <a:gd name="connsiteX84" fmla="*/ 317920 w 5283866"/>
              <a:gd name="connsiteY84" fmla="*/ 1652452 h 4210442"/>
              <a:gd name="connsiteX85" fmla="*/ 321779 w 5283866"/>
              <a:gd name="connsiteY85" fmla="*/ 1552359 h 4210442"/>
              <a:gd name="connsiteX86" fmla="*/ 331707 w 5283866"/>
              <a:gd name="connsiteY86" fmla="*/ 1506313 h 4210442"/>
              <a:gd name="connsiteX87" fmla="*/ 315990 w 5283866"/>
              <a:gd name="connsiteY87" fmla="*/ 1453371 h 4210442"/>
              <a:gd name="connsiteX88" fmla="*/ 583450 w 5283866"/>
              <a:gd name="connsiteY88" fmla="*/ 1474052 h 4210442"/>
              <a:gd name="connsiteX89" fmla="*/ 699809 w 5283866"/>
              <a:gd name="connsiteY89" fmla="*/ 1461919 h 4210442"/>
              <a:gd name="connsiteX90" fmla="*/ 902750 w 5283866"/>
              <a:gd name="connsiteY90" fmla="*/ 1458612 h 4210442"/>
              <a:gd name="connsiteX91" fmla="*/ 996774 w 5283866"/>
              <a:gd name="connsiteY91" fmla="*/ 1468814 h 4210442"/>
              <a:gd name="connsiteX92" fmla="*/ 1077012 w 5283866"/>
              <a:gd name="connsiteY92" fmla="*/ 1455578 h 4210442"/>
              <a:gd name="connsiteX93" fmla="*/ 1000083 w 5283866"/>
              <a:gd name="connsiteY93" fmla="*/ 1393262 h 4210442"/>
              <a:gd name="connsiteX94" fmla="*/ 891720 w 5283866"/>
              <a:gd name="connsiteY94" fmla="*/ 1394089 h 4210442"/>
              <a:gd name="connsiteX95" fmla="*/ 814515 w 5283866"/>
              <a:gd name="connsiteY95" fmla="*/ 1353557 h 4210442"/>
              <a:gd name="connsiteX96" fmla="*/ 740895 w 5283866"/>
              <a:gd name="connsiteY96" fmla="*/ 1280211 h 4210442"/>
              <a:gd name="connsiteX97" fmla="*/ 481154 w 5283866"/>
              <a:gd name="connsiteY97" fmla="*/ 1163301 h 4210442"/>
              <a:gd name="connsiteX98" fmla="*/ 433728 w 5283866"/>
              <a:gd name="connsiteY98" fmla="*/ 1118909 h 4210442"/>
              <a:gd name="connsiteX99" fmla="*/ 1176276 w 5283866"/>
              <a:gd name="connsiteY99" fmla="*/ 1288484 h 4210442"/>
              <a:gd name="connsiteX100" fmla="*/ 946867 w 5283866"/>
              <a:gd name="connsiteY100" fmla="*/ 1217344 h 4210442"/>
              <a:gd name="connsiteX101" fmla="*/ 1102104 w 5283866"/>
              <a:gd name="connsiteY101" fmla="*/ 1230304 h 4210442"/>
              <a:gd name="connsiteX102" fmla="*/ 1188133 w 5283866"/>
              <a:gd name="connsiteY102" fmla="*/ 1182603 h 4210442"/>
              <a:gd name="connsiteX103" fmla="*/ 1187030 w 5283866"/>
              <a:gd name="connsiteY103" fmla="*/ 1169092 h 4210442"/>
              <a:gd name="connsiteX104" fmla="*/ 1123887 w 5283866"/>
              <a:gd name="connsiteY104" fmla="*/ 1124698 h 4210442"/>
              <a:gd name="connsiteX105" fmla="*/ 1086938 w 5283866"/>
              <a:gd name="connsiteY105" fmla="*/ 1096023 h 4210442"/>
              <a:gd name="connsiteX106" fmla="*/ 985744 w 5283866"/>
              <a:gd name="connsiteY106" fmla="*/ 992622 h 4210442"/>
              <a:gd name="connsiteX107" fmla="*/ 1057987 w 5283866"/>
              <a:gd name="connsiteY107" fmla="*/ 981594 h 4210442"/>
              <a:gd name="connsiteX108" fmla="*/ 1084733 w 5283866"/>
              <a:gd name="connsiteY108" fmla="*/ 960086 h 4210442"/>
              <a:gd name="connsiteX109" fmla="*/ 1064605 w 5283866"/>
              <a:gd name="connsiteY109" fmla="*/ 929756 h 4210442"/>
              <a:gd name="connsiteX110" fmla="*/ 840985 w 5283866"/>
              <a:gd name="connsiteY110" fmla="*/ 836558 h 4210442"/>
              <a:gd name="connsiteX111" fmla="*/ 823615 w 5283866"/>
              <a:gd name="connsiteY111" fmla="*/ 764315 h 4210442"/>
              <a:gd name="connsiteX112" fmla="*/ 865526 w 5283866"/>
              <a:gd name="connsiteY112" fmla="*/ 753562 h 4210442"/>
              <a:gd name="connsiteX113" fmla="*/ 914331 w 5283866"/>
              <a:gd name="connsiteY113" fmla="*/ 758525 h 4210442"/>
              <a:gd name="connsiteX114" fmla="*/ 875452 w 5283866"/>
              <a:gd name="connsiteY114" fmla="*/ 701724 h 4210442"/>
              <a:gd name="connsiteX115" fmla="*/ 717181 w 5283866"/>
              <a:gd name="connsiteY115" fmla="*/ 644371 h 4210442"/>
              <a:gd name="connsiteX116" fmla="*/ 755783 w 5283866"/>
              <a:gd name="connsiteY116" fmla="*/ 591707 h 4210442"/>
              <a:gd name="connsiteX117" fmla="*/ 0 w 5283866"/>
              <a:gd name="connsiteY117" fmla="*/ 352370 h 4210442"/>
              <a:gd name="connsiteX118" fmla="*/ 135937 w 5283866"/>
              <a:gd name="connsiteY118" fmla="*/ 349889 h 4210442"/>
              <a:gd name="connsiteX119" fmla="*/ 421595 w 5283866"/>
              <a:gd name="connsiteY119" fmla="*/ 385458 h 4210442"/>
              <a:gd name="connsiteX120" fmla="*/ 564424 w 5283866"/>
              <a:gd name="connsiteY120" fmla="*/ 379393 h 4210442"/>
              <a:gd name="connsiteX121" fmla="*/ 698432 w 5283866"/>
              <a:gd name="connsiteY121" fmla="*/ 398694 h 4210442"/>
              <a:gd name="connsiteX122" fmla="*/ 815067 w 5283866"/>
              <a:gd name="connsiteY122" fmla="*/ 398694 h 4210442"/>
              <a:gd name="connsiteX123" fmla="*/ 705876 w 5283866"/>
              <a:gd name="connsiteY123" fmla="*/ 370568 h 4210442"/>
              <a:gd name="connsiteX124" fmla="*/ 775360 w 5283866"/>
              <a:gd name="connsiteY124" fmla="*/ 345477 h 4210442"/>
              <a:gd name="connsiteX125" fmla="*/ 787493 w 5283866"/>
              <a:gd name="connsiteY125" fmla="*/ 315146 h 4210442"/>
              <a:gd name="connsiteX126" fmla="*/ 819202 w 5283866"/>
              <a:gd name="connsiteY126" fmla="*/ 291709 h 4210442"/>
              <a:gd name="connsiteX127" fmla="*/ 998705 w 5283866"/>
              <a:gd name="connsiteY127" fmla="*/ 303291 h 4210442"/>
              <a:gd name="connsiteX128" fmla="*/ 880139 w 5283866"/>
              <a:gd name="connsiteY128" fmla="*/ 206783 h 4210442"/>
              <a:gd name="connsiteX129" fmla="*/ 804037 w 5283866"/>
              <a:gd name="connsiteY129" fmla="*/ 190790 h 4210442"/>
              <a:gd name="connsiteX130" fmla="*/ 786666 w 5283866"/>
              <a:gd name="connsiteY130" fmla="*/ 149707 h 4210442"/>
              <a:gd name="connsiteX131" fmla="*/ 821960 w 5283866"/>
              <a:gd name="connsiteY131" fmla="*/ 140884 h 4210442"/>
              <a:gd name="connsiteX132" fmla="*/ 997325 w 5283866"/>
              <a:gd name="connsiteY132" fmla="*/ 174800 h 4210442"/>
              <a:gd name="connsiteX133" fmla="*/ 1026829 w 5283866"/>
              <a:gd name="connsiteY133" fmla="*/ 161287 h 4210442"/>
              <a:gd name="connsiteX134" fmla="*/ 696777 w 5283866"/>
              <a:gd name="connsiteY134" fmla="*/ 73604 h 4210442"/>
              <a:gd name="connsiteX135" fmla="*/ 701741 w 5283866"/>
              <a:gd name="connsiteY135" fmla="*/ 50444 h 4210442"/>
              <a:gd name="connsiteX136" fmla="*/ 992362 w 5283866"/>
              <a:gd name="connsiteY136" fmla="*/ 86289 h 4210442"/>
              <a:gd name="connsiteX137" fmla="*/ 806519 w 5283866"/>
              <a:gd name="connsiteY137" fmla="*/ 18183 h 4210442"/>
              <a:gd name="connsiteX138" fmla="*/ 839883 w 5283866"/>
              <a:gd name="connsiteY138" fmla="*/ 18 h 4210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5283866" h="4210442">
                <a:moveTo>
                  <a:pt x="839883" y="18"/>
                </a:moveTo>
                <a:cubicBezTo>
                  <a:pt x="851945" y="328"/>
                  <a:pt x="864423" y="4671"/>
                  <a:pt x="875727" y="6050"/>
                </a:cubicBezTo>
                <a:cubicBezTo>
                  <a:pt x="1125267" y="36932"/>
                  <a:pt x="1374804" y="70296"/>
                  <a:pt x="1624617" y="99799"/>
                </a:cubicBezTo>
                <a:cubicBezTo>
                  <a:pt x="1858164" y="127373"/>
                  <a:pt x="2093363" y="133714"/>
                  <a:pt x="2328012" y="148051"/>
                </a:cubicBezTo>
                <a:cubicBezTo>
                  <a:pt x="2612016" y="165424"/>
                  <a:pt x="2895470" y="189965"/>
                  <a:pt x="3177820" y="228566"/>
                </a:cubicBezTo>
                <a:cubicBezTo>
                  <a:pt x="3373866" y="255590"/>
                  <a:pt x="3571843" y="274338"/>
                  <a:pt x="3770646" y="252831"/>
                </a:cubicBezTo>
                <a:cubicBezTo>
                  <a:pt x="3780572" y="251727"/>
                  <a:pt x="3791878" y="248144"/>
                  <a:pt x="3800149" y="251727"/>
                </a:cubicBezTo>
                <a:cubicBezTo>
                  <a:pt x="3896658" y="291986"/>
                  <a:pt x="4001986" y="263033"/>
                  <a:pt x="4102076" y="288400"/>
                </a:cubicBezTo>
                <a:cubicBezTo>
                  <a:pt x="4076434" y="386286"/>
                  <a:pt x="3966416" y="378289"/>
                  <a:pt x="3904377" y="446120"/>
                </a:cubicBezTo>
                <a:cubicBezTo>
                  <a:pt x="4005570" y="473141"/>
                  <a:pt x="4096562" y="500439"/>
                  <a:pt x="4188933" y="520843"/>
                </a:cubicBezTo>
                <a:cubicBezTo>
                  <a:pt x="4286818" y="542350"/>
                  <a:pt x="4369813" y="600531"/>
                  <a:pt x="4465492" y="626449"/>
                </a:cubicBezTo>
                <a:cubicBezTo>
                  <a:pt x="4485897" y="631964"/>
                  <a:pt x="4510437" y="651264"/>
                  <a:pt x="4517606" y="670015"/>
                </a:cubicBezTo>
                <a:cubicBezTo>
                  <a:pt x="4540768" y="730677"/>
                  <a:pt x="5003171" y="900804"/>
                  <a:pt x="4948576" y="954847"/>
                </a:cubicBezTo>
                <a:cubicBezTo>
                  <a:pt x="4925966" y="977182"/>
                  <a:pt x="4896738" y="993174"/>
                  <a:pt x="4866132" y="1015233"/>
                </a:cubicBezTo>
                <a:cubicBezTo>
                  <a:pt x="4912180" y="1056869"/>
                  <a:pt x="4964017" y="1075067"/>
                  <a:pt x="5019164" y="1087474"/>
                </a:cubicBezTo>
                <a:cubicBezTo>
                  <a:pt x="5035708" y="1091335"/>
                  <a:pt x="5051977" y="1099055"/>
                  <a:pt x="5053630" y="1117806"/>
                </a:cubicBezTo>
                <a:cubicBezTo>
                  <a:pt x="5055284" y="1137382"/>
                  <a:pt x="5038464" y="1145101"/>
                  <a:pt x="5024404" y="1154202"/>
                </a:cubicBezTo>
                <a:cubicBezTo>
                  <a:pt x="5004826" y="1166885"/>
                  <a:pt x="4985800" y="1177916"/>
                  <a:pt x="4960984" y="1179569"/>
                </a:cubicBezTo>
                <a:cubicBezTo>
                  <a:pt x="4920176" y="1182051"/>
                  <a:pt x="4900600" y="1217344"/>
                  <a:pt x="4876887" y="1243814"/>
                </a:cubicBezTo>
                <a:cubicBezTo>
                  <a:pt x="4863652" y="1258705"/>
                  <a:pt x="4857034" y="1288759"/>
                  <a:pt x="4880195" y="1293998"/>
                </a:cubicBezTo>
                <a:cubicBezTo>
                  <a:pt x="4935892" y="1306682"/>
                  <a:pt x="4931480" y="1343355"/>
                  <a:pt x="4930104" y="1384991"/>
                </a:cubicBezTo>
                <a:cubicBezTo>
                  <a:pt x="4928173" y="1436553"/>
                  <a:pt x="4895360" y="1460265"/>
                  <a:pt x="4855103" y="1480119"/>
                </a:cubicBezTo>
                <a:cubicBezTo>
                  <a:pt x="4841316" y="1487011"/>
                  <a:pt x="4821740" y="1486735"/>
                  <a:pt x="4816500" y="1508242"/>
                </a:cubicBezTo>
                <a:cubicBezTo>
                  <a:pt x="4839110" y="1528648"/>
                  <a:pt x="4866684" y="1512103"/>
                  <a:pt x="4890949" y="1517893"/>
                </a:cubicBezTo>
                <a:cubicBezTo>
                  <a:pt x="4911077" y="1522581"/>
                  <a:pt x="4944441" y="1520100"/>
                  <a:pt x="4916868" y="1557599"/>
                </a:cubicBezTo>
                <a:cubicBezTo>
                  <a:pt x="4908870" y="1568352"/>
                  <a:pt x="4918245" y="1576625"/>
                  <a:pt x="4928448" y="1577453"/>
                </a:cubicBezTo>
                <a:cubicBezTo>
                  <a:pt x="5010066" y="1586000"/>
                  <a:pt x="4972566" y="1661827"/>
                  <a:pt x="4998760" y="1701809"/>
                </a:cubicBezTo>
                <a:cubicBezTo>
                  <a:pt x="5005928" y="1712836"/>
                  <a:pt x="4998208" y="1731862"/>
                  <a:pt x="4986903" y="1736550"/>
                </a:cubicBezTo>
                <a:cubicBezTo>
                  <a:pt x="4914660" y="1767432"/>
                  <a:pt x="4904735" y="1841053"/>
                  <a:pt x="4869716" y="1904472"/>
                </a:cubicBezTo>
                <a:cubicBezTo>
                  <a:pt x="4907768" y="1929562"/>
                  <a:pt x="4953264" y="1935077"/>
                  <a:pt x="4994348" y="1951346"/>
                </a:cubicBezTo>
                <a:cubicBezTo>
                  <a:pt x="5037087" y="1968441"/>
                  <a:pt x="5037087" y="1981125"/>
                  <a:pt x="5001792" y="2030756"/>
                </a:cubicBezTo>
                <a:cubicBezTo>
                  <a:pt x="5093611" y="2041511"/>
                  <a:pt x="5093611" y="2041511"/>
                  <a:pt x="5065212" y="2119543"/>
                </a:cubicBezTo>
                <a:cubicBezTo>
                  <a:pt x="5142142" y="2126712"/>
                  <a:pt x="5192876" y="2163660"/>
                  <a:pt x="5204732" y="2244450"/>
                </a:cubicBezTo>
                <a:cubicBezTo>
                  <a:pt x="5210523" y="2283604"/>
                  <a:pt x="5245265" y="2302077"/>
                  <a:pt x="5283866" y="2328272"/>
                </a:cubicBezTo>
                <a:cubicBezTo>
                  <a:pt x="5235890" y="2353641"/>
                  <a:pt x="5203354" y="2406580"/>
                  <a:pt x="5147380" y="2350606"/>
                </a:cubicBezTo>
                <a:cubicBezTo>
                  <a:pt x="5126976" y="2330203"/>
                  <a:pt x="5128904" y="2356121"/>
                  <a:pt x="5126148" y="2363566"/>
                </a:cubicBezTo>
                <a:cubicBezTo>
                  <a:pt x="5119532" y="2381764"/>
                  <a:pt x="5133316" y="2393897"/>
                  <a:pt x="5142417" y="2407682"/>
                </a:cubicBezTo>
                <a:cubicBezTo>
                  <a:pt x="5151240" y="2421470"/>
                  <a:pt x="5161718" y="2436083"/>
                  <a:pt x="5164200" y="2451526"/>
                </a:cubicBezTo>
                <a:cubicBezTo>
                  <a:pt x="5165852" y="2462279"/>
                  <a:pt x="5157858" y="2477994"/>
                  <a:pt x="5149034" y="2485992"/>
                </a:cubicBezTo>
                <a:cubicBezTo>
                  <a:pt x="5102710" y="2528178"/>
                  <a:pt x="5130284" y="2623031"/>
                  <a:pt x="5042601" y="2635164"/>
                </a:cubicBezTo>
                <a:cubicBezTo>
                  <a:pt x="5003171" y="2640677"/>
                  <a:pt x="4984146" y="2675420"/>
                  <a:pt x="4955194" y="2694445"/>
                </a:cubicBezTo>
                <a:cubicBezTo>
                  <a:pt x="4854552" y="2760897"/>
                  <a:pt x="4787272" y="2846375"/>
                  <a:pt x="4756116" y="2963836"/>
                </a:cubicBezTo>
                <a:cubicBezTo>
                  <a:pt x="4747568" y="2996372"/>
                  <a:pt x="4714754" y="3022569"/>
                  <a:pt x="4693523" y="3051244"/>
                </a:cubicBezTo>
                <a:cubicBezTo>
                  <a:pt x="4703726" y="3072199"/>
                  <a:pt x="4759424" y="3026979"/>
                  <a:pt x="4739848" y="3082125"/>
                </a:cubicBezTo>
                <a:cubicBezTo>
                  <a:pt x="4724958" y="3123486"/>
                  <a:pt x="4686906" y="3149129"/>
                  <a:pt x="4651060" y="3173670"/>
                </a:cubicBezTo>
                <a:cubicBezTo>
                  <a:pt x="4610252" y="3201518"/>
                  <a:pt x="4565032" y="3223852"/>
                  <a:pt x="4546556" y="3275413"/>
                </a:cubicBezTo>
                <a:cubicBezTo>
                  <a:pt x="4542697" y="3286444"/>
                  <a:pt x="4530288" y="3298024"/>
                  <a:pt x="4519261" y="3302437"/>
                </a:cubicBezTo>
                <a:cubicBezTo>
                  <a:pt x="3944081" y="4209875"/>
                  <a:pt x="2528194" y="4215939"/>
                  <a:pt x="2364961" y="4209597"/>
                </a:cubicBezTo>
                <a:cubicBezTo>
                  <a:pt x="2167260" y="4201602"/>
                  <a:pt x="1980313" y="4145627"/>
                  <a:pt x="1796951" y="4075867"/>
                </a:cubicBezTo>
                <a:cubicBezTo>
                  <a:pt x="1719469" y="4046365"/>
                  <a:pt x="1647505" y="4004453"/>
                  <a:pt x="1572227" y="3971917"/>
                </a:cubicBezTo>
                <a:cubicBezTo>
                  <a:pt x="1468277" y="3926971"/>
                  <a:pt x="1388040" y="3841219"/>
                  <a:pt x="1284364" y="3805097"/>
                </a:cubicBezTo>
                <a:cubicBezTo>
                  <a:pt x="1177655" y="3767873"/>
                  <a:pt x="1086388" y="3699767"/>
                  <a:pt x="976645" y="3670815"/>
                </a:cubicBezTo>
                <a:cubicBezTo>
                  <a:pt x="918742" y="3655375"/>
                  <a:pt x="862768" y="3627527"/>
                  <a:pt x="871866" y="3547839"/>
                </a:cubicBezTo>
                <a:cubicBezTo>
                  <a:pt x="874349" y="3525228"/>
                  <a:pt x="859184" y="3506755"/>
                  <a:pt x="835195" y="3513373"/>
                </a:cubicBezTo>
                <a:cubicBezTo>
                  <a:pt x="789424" y="3525780"/>
                  <a:pt x="768744" y="3492967"/>
                  <a:pt x="743375" y="3468427"/>
                </a:cubicBezTo>
                <a:cubicBezTo>
                  <a:pt x="698156" y="3424863"/>
                  <a:pt x="655142" y="3378540"/>
                  <a:pt x="583175" y="3371370"/>
                </a:cubicBezTo>
                <a:cubicBezTo>
                  <a:pt x="596961" y="3337178"/>
                  <a:pt x="620399" y="3342142"/>
                  <a:pt x="641906" y="3349311"/>
                </a:cubicBezTo>
                <a:cubicBezTo>
                  <a:pt x="698432" y="3368062"/>
                  <a:pt x="754405" y="3389293"/>
                  <a:pt x="810930" y="3408042"/>
                </a:cubicBezTo>
                <a:cubicBezTo>
                  <a:pt x="847878" y="3420175"/>
                  <a:pt x="884551" y="3437271"/>
                  <a:pt x="933908" y="3423758"/>
                </a:cubicBezTo>
                <a:cubicBezTo>
                  <a:pt x="891445" y="3354826"/>
                  <a:pt x="819202" y="3342418"/>
                  <a:pt x="760747" y="3321187"/>
                </a:cubicBezTo>
                <a:cubicBezTo>
                  <a:pt x="687678" y="3294441"/>
                  <a:pt x="644664" y="3243980"/>
                  <a:pt x="593101" y="3187731"/>
                </a:cubicBezTo>
                <a:cubicBezTo>
                  <a:pt x="646869" y="3174220"/>
                  <a:pt x="680233" y="3215581"/>
                  <a:pt x="722419" y="3213374"/>
                </a:cubicBezTo>
                <a:cubicBezTo>
                  <a:pt x="724627" y="3206207"/>
                  <a:pt x="728486" y="3195729"/>
                  <a:pt x="727934" y="3195451"/>
                </a:cubicBezTo>
                <a:cubicBezTo>
                  <a:pt x="659002" y="3164570"/>
                  <a:pt x="626741" y="3106666"/>
                  <a:pt x="615987" y="3036630"/>
                </a:cubicBezTo>
                <a:cubicBezTo>
                  <a:pt x="610473" y="3000510"/>
                  <a:pt x="585381" y="2989205"/>
                  <a:pt x="560564" y="2972660"/>
                </a:cubicBezTo>
                <a:cubicBezTo>
                  <a:pt x="473984" y="2913930"/>
                  <a:pt x="382441" y="2860713"/>
                  <a:pt x="311302" y="2779924"/>
                </a:cubicBezTo>
                <a:cubicBezTo>
                  <a:pt x="393471" y="2790677"/>
                  <a:pt x="459371" y="2843341"/>
                  <a:pt x="547882" y="2865952"/>
                </a:cubicBezTo>
                <a:cubicBezTo>
                  <a:pt x="477570" y="2777166"/>
                  <a:pt x="386577" y="2732222"/>
                  <a:pt x="303582" y="2678453"/>
                </a:cubicBezTo>
                <a:cubicBezTo>
                  <a:pt x="265806" y="2653913"/>
                  <a:pt x="230790" y="2622479"/>
                  <a:pt x="185016" y="2609244"/>
                </a:cubicBezTo>
                <a:cubicBezTo>
                  <a:pt x="168748" y="2604556"/>
                  <a:pt x="142002" y="2594630"/>
                  <a:pt x="154963" y="2568435"/>
                </a:cubicBezTo>
                <a:cubicBezTo>
                  <a:pt x="165990" y="2546654"/>
                  <a:pt x="187773" y="2553269"/>
                  <a:pt x="207627" y="2559612"/>
                </a:cubicBezTo>
                <a:cubicBezTo>
                  <a:pt x="255328" y="2575330"/>
                  <a:pt x="304685" y="2575604"/>
                  <a:pt x="369207" y="2575330"/>
                </a:cubicBezTo>
                <a:cubicBezTo>
                  <a:pt x="315163" y="2503363"/>
                  <a:pt x="216174" y="2524871"/>
                  <a:pt x="169852" y="2449319"/>
                </a:cubicBezTo>
                <a:cubicBezTo>
                  <a:pt x="227755" y="2436083"/>
                  <a:pt x="272424" y="2463381"/>
                  <a:pt x="319299" y="2468619"/>
                </a:cubicBezTo>
                <a:cubicBezTo>
                  <a:pt x="361761" y="2473307"/>
                  <a:pt x="372239" y="2460624"/>
                  <a:pt x="362313" y="2418988"/>
                </a:cubicBezTo>
                <a:cubicBezTo>
                  <a:pt x="346873" y="2354190"/>
                  <a:pt x="370034" y="2321102"/>
                  <a:pt x="431798" y="2338750"/>
                </a:cubicBezTo>
                <a:cubicBezTo>
                  <a:pt x="489149" y="2355293"/>
                  <a:pt x="495215" y="2331030"/>
                  <a:pt x="479775" y="2294082"/>
                </a:cubicBezTo>
                <a:cubicBezTo>
                  <a:pt x="457716" y="2240315"/>
                  <a:pt x="482807" y="2198678"/>
                  <a:pt x="499903" y="2153458"/>
                </a:cubicBezTo>
                <a:cubicBezTo>
                  <a:pt x="526099" y="2084525"/>
                  <a:pt x="515069" y="2050885"/>
                  <a:pt x="458544" y="1999599"/>
                </a:cubicBezTo>
                <a:cubicBezTo>
                  <a:pt x="426835" y="1970921"/>
                  <a:pt x="392645" y="1946658"/>
                  <a:pt x="346596" y="1921843"/>
                </a:cubicBezTo>
                <a:cubicBezTo>
                  <a:pt x="452753" y="1908331"/>
                  <a:pt x="341358" y="1862836"/>
                  <a:pt x="378857" y="1834435"/>
                </a:cubicBezTo>
                <a:cubicBezTo>
                  <a:pt x="453856" y="1822854"/>
                  <a:pt x="515069" y="1913294"/>
                  <a:pt x="617091" y="1887376"/>
                </a:cubicBezTo>
                <a:cubicBezTo>
                  <a:pt x="491080" y="1809066"/>
                  <a:pt x="351835" y="1783423"/>
                  <a:pt x="260568" y="1679198"/>
                </a:cubicBezTo>
                <a:cubicBezTo>
                  <a:pt x="281523" y="1655484"/>
                  <a:pt x="302479" y="1677543"/>
                  <a:pt x="320402" y="1668720"/>
                </a:cubicBezTo>
                <a:cubicBezTo>
                  <a:pt x="319850" y="1663205"/>
                  <a:pt x="321230" y="1654932"/>
                  <a:pt x="317920" y="1652452"/>
                </a:cubicBezTo>
                <a:cubicBezTo>
                  <a:pt x="249815" y="1595650"/>
                  <a:pt x="248711" y="1594273"/>
                  <a:pt x="321779" y="1552359"/>
                </a:cubicBezTo>
                <a:cubicBezTo>
                  <a:pt x="347424" y="1537746"/>
                  <a:pt x="345218" y="1524786"/>
                  <a:pt x="331707" y="1506313"/>
                </a:cubicBezTo>
                <a:cubicBezTo>
                  <a:pt x="322055" y="1493353"/>
                  <a:pt x="310475" y="1481772"/>
                  <a:pt x="315990" y="1453371"/>
                </a:cubicBezTo>
                <a:cubicBezTo>
                  <a:pt x="355971" y="1489769"/>
                  <a:pt x="549259" y="1477912"/>
                  <a:pt x="583450" y="1474052"/>
                </a:cubicBezTo>
                <a:cubicBezTo>
                  <a:pt x="621777" y="1469917"/>
                  <a:pt x="659553" y="1452269"/>
                  <a:pt x="699809" y="1461919"/>
                </a:cubicBezTo>
                <a:cubicBezTo>
                  <a:pt x="732070" y="1469641"/>
                  <a:pt x="881516" y="1544364"/>
                  <a:pt x="902750" y="1458612"/>
                </a:cubicBezTo>
                <a:cubicBezTo>
                  <a:pt x="903853" y="1454475"/>
                  <a:pt x="964237" y="1464127"/>
                  <a:pt x="996774" y="1468814"/>
                </a:cubicBezTo>
                <a:cubicBezTo>
                  <a:pt x="1025451" y="1472674"/>
                  <a:pt x="1057712" y="1489769"/>
                  <a:pt x="1077012" y="1455578"/>
                </a:cubicBezTo>
                <a:cubicBezTo>
                  <a:pt x="1088317" y="1435450"/>
                  <a:pt x="1041719" y="1396571"/>
                  <a:pt x="1000083" y="1393262"/>
                </a:cubicBezTo>
                <a:cubicBezTo>
                  <a:pt x="963961" y="1390229"/>
                  <a:pt x="926186" y="1385817"/>
                  <a:pt x="891720" y="1394089"/>
                </a:cubicBezTo>
                <a:cubicBezTo>
                  <a:pt x="849258" y="1404017"/>
                  <a:pt x="826372" y="1388024"/>
                  <a:pt x="814515" y="1353557"/>
                </a:cubicBezTo>
                <a:cubicBezTo>
                  <a:pt x="801280" y="1315506"/>
                  <a:pt x="775911" y="1297858"/>
                  <a:pt x="740895" y="1280211"/>
                </a:cubicBezTo>
                <a:cubicBezTo>
                  <a:pt x="655967" y="1237474"/>
                  <a:pt x="574352" y="1188118"/>
                  <a:pt x="481154" y="1163301"/>
                </a:cubicBezTo>
                <a:cubicBezTo>
                  <a:pt x="462679" y="1158337"/>
                  <a:pt x="442276" y="1151719"/>
                  <a:pt x="433728" y="1118909"/>
                </a:cubicBezTo>
                <a:cubicBezTo>
                  <a:pt x="686023" y="1167987"/>
                  <a:pt x="915984" y="1295929"/>
                  <a:pt x="1176276" y="1288484"/>
                </a:cubicBezTo>
                <a:cubicBezTo>
                  <a:pt x="1105137" y="1247950"/>
                  <a:pt x="1022694" y="1245745"/>
                  <a:pt x="946867" y="1217344"/>
                </a:cubicBezTo>
                <a:cubicBezTo>
                  <a:pt x="1000635" y="1196113"/>
                  <a:pt x="1051094" y="1218172"/>
                  <a:pt x="1102104" y="1230304"/>
                </a:cubicBezTo>
                <a:cubicBezTo>
                  <a:pt x="1144843" y="1240230"/>
                  <a:pt x="1183446" y="1241885"/>
                  <a:pt x="1188133" y="1182603"/>
                </a:cubicBezTo>
                <a:cubicBezTo>
                  <a:pt x="1186478" y="1178742"/>
                  <a:pt x="1186754" y="1173780"/>
                  <a:pt x="1187030" y="1169092"/>
                </a:cubicBezTo>
                <a:cubicBezTo>
                  <a:pt x="1172690" y="1144552"/>
                  <a:pt x="1150358" y="1131868"/>
                  <a:pt x="1123887" y="1124698"/>
                </a:cubicBezTo>
                <a:cubicBezTo>
                  <a:pt x="1107894" y="1120286"/>
                  <a:pt x="1086663" y="1113668"/>
                  <a:pt x="1086938" y="1096023"/>
                </a:cubicBezTo>
                <a:cubicBezTo>
                  <a:pt x="1087765" y="1030674"/>
                  <a:pt x="1036756" y="1011647"/>
                  <a:pt x="985744" y="992622"/>
                </a:cubicBezTo>
                <a:cubicBezTo>
                  <a:pt x="1014145" y="960086"/>
                  <a:pt x="1036479" y="984074"/>
                  <a:pt x="1057987" y="981594"/>
                </a:cubicBezTo>
                <a:cubicBezTo>
                  <a:pt x="1072049" y="979939"/>
                  <a:pt x="1084733" y="976906"/>
                  <a:pt x="1084733" y="960086"/>
                </a:cubicBezTo>
                <a:cubicBezTo>
                  <a:pt x="1085008" y="946023"/>
                  <a:pt x="1078390" y="930030"/>
                  <a:pt x="1064605" y="929756"/>
                </a:cubicBezTo>
                <a:cubicBezTo>
                  <a:pt x="978300" y="927273"/>
                  <a:pt x="930599" y="836833"/>
                  <a:pt x="840985" y="836558"/>
                </a:cubicBezTo>
                <a:cubicBezTo>
                  <a:pt x="787493" y="836558"/>
                  <a:pt x="868834" y="785547"/>
                  <a:pt x="823615" y="764315"/>
                </a:cubicBezTo>
                <a:cubicBezTo>
                  <a:pt x="813687" y="759628"/>
                  <a:pt x="849533" y="752460"/>
                  <a:pt x="865526" y="753562"/>
                </a:cubicBezTo>
                <a:cubicBezTo>
                  <a:pt x="881242" y="754665"/>
                  <a:pt x="895304" y="768175"/>
                  <a:pt x="914331" y="758525"/>
                </a:cubicBezTo>
                <a:cubicBezTo>
                  <a:pt x="924808" y="724059"/>
                  <a:pt x="897787" y="711375"/>
                  <a:pt x="875452" y="701724"/>
                </a:cubicBezTo>
                <a:cubicBezTo>
                  <a:pt x="823889" y="679390"/>
                  <a:pt x="773706" y="652369"/>
                  <a:pt x="717181" y="644371"/>
                </a:cubicBezTo>
                <a:cubicBezTo>
                  <a:pt x="697053" y="641614"/>
                  <a:pt x="746133" y="604666"/>
                  <a:pt x="755783" y="591707"/>
                </a:cubicBezTo>
                <a:cubicBezTo>
                  <a:pt x="528304" y="455496"/>
                  <a:pt x="254778" y="462388"/>
                  <a:pt x="0" y="352370"/>
                </a:cubicBezTo>
                <a:cubicBezTo>
                  <a:pt x="56250" y="330864"/>
                  <a:pt x="97610" y="346580"/>
                  <a:pt x="135937" y="349889"/>
                </a:cubicBezTo>
                <a:cubicBezTo>
                  <a:pt x="231615" y="358160"/>
                  <a:pt x="326193" y="375256"/>
                  <a:pt x="421595" y="385458"/>
                </a:cubicBezTo>
                <a:cubicBezTo>
                  <a:pt x="468469" y="390421"/>
                  <a:pt x="512035" y="409172"/>
                  <a:pt x="564424" y="379393"/>
                </a:cubicBezTo>
                <a:cubicBezTo>
                  <a:pt x="599443" y="359540"/>
                  <a:pt x="655418" y="381046"/>
                  <a:pt x="698432" y="398694"/>
                </a:cubicBezTo>
                <a:cubicBezTo>
                  <a:pt x="734000" y="413307"/>
                  <a:pt x="767916" y="417167"/>
                  <a:pt x="815067" y="398694"/>
                </a:cubicBezTo>
                <a:cubicBezTo>
                  <a:pt x="772328" y="387389"/>
                  <a:pt x="739515" y="377463"/>
                  <a:pt x="705876" y="370568"/>
                </a:cubicBezTo>
                <a:cubicBezTo>
                  <a:pt x="679130" y="365055"/>
                  <a:pt x="742825" y="342719"/>
                  <a:pt x="775360" y="345477"/>
                </a:cubicBezTo>
                <a:cubicBezTo>
                  <a:pt x="820857" y="349337"/>
                  <a:pt x="795214" y="335000"/>
                  <a:pt x="787493" y="315146"/>
                </a:cubicBezTo>
                <a:cubicBezTo>
                  <a:pt x="779221" y="293915"/>
                  <a:pt x="803761" y="287298"/>
                  <a:pt x="819202" y="291709"/>
                </a:cubicBezTo>
                <a:cubicBezTo>
                  <a:pt x="878484" y="309081"/>
                  <a:pt x="937491" y="278474"/>
                  <a:pt x="998705" y="303291"/>
                </a:cubicBezTo>
                <a:cubicBezTo>
                  <a:pt x="983263" y="242077"/>
                  <a:pt x="949899" y="215331"/>
                  <a:pt x="880139" y="206783"/>
                </a:cubicBezTo>
                <a:cubicBezTo>
                  <a:pt x="853944" y="203475"/>
                  <a:pt x="826647" y="208438"/>
                  <a:pt x="804037" y="190790"/>
                </a:cubicBezTo>
                <a:cubicBezTo>
                  <a:pt x="791076" y="180590"/>
                  <a:pt x="776463" y="168457"/>
                  <a:pt x="786666" y="149707"/>
                </a:cubicBezTo>
                <a:cubicBezTo>
                  <a:pt x="793834" y="136471"/>
                  <a:pt x="809276" y="136471"/>
                  <a:pt x="821960" y="140884"/>
                </a:cubicBezTo>
                <a:cubicBezTo>
                  <a:pt x="878761" y="160461"/>
                  <a:pt x="938043" y="167630"/>
                  <a:pt x="997325" y="174800"/>
                </a:cubicBezTo>
                <a:cubicBezTo>
                  <a:pt x="1006426" y="175902"/>
                  <a:pt x="1016626" y="179487"/>
                  <a:pt x="1026829" y="161287"/>
                </a:cubicBezTo>
                <a:cubicBezTo>
                  <a:pt x="915984" y="131783"/>
                  <a:pt x="810655" y="89872"/>
                  <a:pt x="696777" y="73604"/>
                </a:cubicBezTo>
                <a:cubicBezTo>
                  <a:pt x="698432" y="65884"/>
                  <a:pt x="700086" y="58164"/>
                  <a:pt x="701741" y="50444"/>
                </a:cubicBezTo>
                <a:cubicBezTo>
                  <a:pt x="790801" y="61471"/>
                  <a:pt x="879864" y="72501"/>
                  <a:pt x="992362" y="86289"/>
                </a:cubicBezTo>
                <a:cubicBezTo>
                  <a:pt x="923153" y="42446"/>
                  <a:pt x="857805" y="57060"/>
                  <a:pt x="806519" y="18183"/>
                </a:cubicBezTo>
                <a:cubicBezTo>
                  <a:pt x="816170" y="3431"/>
                  <a:pt x="827820" y="-292"/>
                  <a:pt x="839883" y="18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988985-51CB-8AF8-92C2-4A69AAB3E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429" y="3705856"/>
            <a:ext cx="2775284" cy="69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69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A437B-3FC2-40C1-AE8F-0DEF2D85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Syntegra Data #1. Medicare CCLF Claims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3CCF6-8D9B-8E4F-6E83-7CF05B712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48" y="1082612"/>
            <a:ext cx="9658350" cy="14954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F7795A-97CE-3A01-782E-9BE7BD171E36}"/>
              </a:ext>
            </a:extLst>
          </p:cNvPr>
          <p:cNvSpPr txBox="1"/>
          <p:nvPr/>
        </p:nvSpPr>
        <p:spPr>
          <a:xfrm>
            <a:off x="641927" y="2715726"/>
            <a:ext cx="10908146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9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Medicare is a health insurance program provided by the federal government for people satisfying certain criteria, most notably being 65 or older in age</a:t>
            </a:r>
          </a:p>
          <a:p>
            <a:pPr marL="2889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CCLF stands for Claim and Claim Line Feed, which is a standardized format for Medicare claims from various providers that allows details such as the claim dates, diagnosis code, and the Medicare payment amount to be tracked for beneficiaries using </a:t>
            </a:r>
            <a:r>
              <a:rPr lang="en-US" sz="1400" dirty="0">
                <a:solidFill>
                  <a:srgbClr val="3F3F3F"/>
                </a:solidFill>
                <a:latin typeface="Calibri"/>
              </a:rPr>
              <a:t>unique beneficiary identifier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89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3F3F3F"/>
                </a:solidFill>
                <a:latin typeface="Calibri"/>
              </a:rPr>
              <a:t>What makes this medical claims data?</a:t>
            </a:r>
          </a:p>
          <a:p>
            <a:pPr marL="746125" lvl="1" indent="-28892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3F3F3F"/>
                </a:solidFill>
                <a:latin typeface="Calibri"/>
              </a:rPr>
              <a:t>Claim dates (dates of service)</a:t>
            </a:r>
          </a:p>
          <a:p>
            <a:pPr marL="746125" lvl="1" indent="-28892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3F3F3F"/>
                </a:solidFill>
                <a:latin typeface="Calibri"/>
              </a:rPr>
              <a:t>Diagnosis code </a:t>
            </a:r>
          </a:p>
          <a:p>
            <a:pPr marL="746125" lvl="1" indent="-28892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3F3F3F"/>
                </a:solidFill>
                <a:latin typeface="Calibri"/>
              </a:rPr>
              <a:t>Paid claim amount</a:t>
            </a:r>
          </a:p>
          <a:p>
            <a:pPr marL="2889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3F3F3F"/>
                </a:solidFill>
                <a:latin typeface="Calibri"/>
              </a:rPr>
              <a:t>Initial observations</a:t>
            </a:r>
          </a:p>
          <a:p>
            <a:pPr marL="746125" lvl="1" indent="-28892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3F3F3F"/>
                </a:solidFill>
                <a:latin typeface="Calibri"/>
              </a:rPr>
              <a:t>The records are not unique on the claim unique ID and will need to be de-duplicated</a:t>
            </a:r>
          </a:p>
          <a:p>
            <a:pPr marL="746125" lvl="1" indent="-28892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3F3F3F"/>
                </a:solidFill>
                <a:latin typeface="Calibri"/>
              </a:rPr>
              <a:t>Analyses can be made using aggregations of information (diagnosis codes, claim time windows, claim amounts, etc.) based on patient and provider IDs</a:t>
            </a:r>
          </a:p>
          <a:p>
            <a:pPr marL="746125" lvl="1" indent="-28892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3F3F3F"/>
                </a:solidFill>
                <a:latin typeface="Calibri"/>
              </a:rPr>
              <a:t>Claim dates vary when considering claim from date and claim to date and will need to decide how to use them when aggregating the data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5381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A437B-3FC2-40C1-AE8F-0DEF2D85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Syntegra Data #2. TUVA Claims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7795A-97CE-3A01-782E-9BE7BD171E36}"/>
              </a:ext>
            </a:extLst>
          </p:cNvPr>
          <p:cNvSpPr txBox="1"/>
          <p:nvPr/>
        </p:nvSpPr>
        <p:spPr>
          <a:xfrm>
            <a:off x="641927" y="2874309"/>
            <a:ext cx="1090814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9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TUVA Claims follow the relational data model format that has been normalized by the TUVA Project, where the TUVA Project aims to provide an open-source standardization of healthcare data </a:t>
            </a:r>
          </a:p>
          <a:p>
            <a:pPr marL="2889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3F3F3F"/>
                </a:solidFill>
                <a:latin typeface="Calibri"/>
              </a:rPr>
              <a:t>What makes this medical claims data?</a:t>
            </a:r>
          </a:p>
          <a:p>
            <a:pPr marL="746125" lvl="1" indent="-28892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3F3F3F"/>
                </a:solidFill>
                <a:latin typeface="Calibri"/>
              </a:rPr>
              <a:t>NPI ID</a:t>
            </a:r>
          </a:p>
          <a:p>
            <a:pPr marL="746125" lvl="1" indent="-28892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3F3F3F"/>
                </a:solidFill>
                <a:latin typeface="Calibri"/>
              </a:rPr>
              <a:t>HCPCS code </a:t>
            </a:r>
          </a:p>
          <a:p>
            <a:pPr marL="746125" lvl="1" indent="-28892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3F3F3F"/>
                </a:solidFill>
                <a:latin typeface="Calibri"/>
              </a:rPr>
              <a:t>Place of service</a:t>
            </a:r>
          </a:p>
          <a:p>
            <a:pPr marL="2889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3F3F3F"/>
                </a:solidFill>
                <a:latin typeface="Calibri"/>
              </a:rPr>
              <a:t>Initial observations</a:t>
            </a:r>
          </a:p>
          <a:p>
            <a:pPr marL="746125" lvl="1" indent="-28892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3F3F3F"/>
                </a:solidFill>
                <a:latin typeface="Calibri"/>
              </a:rPr>
              <a:t>There are columns with a lot of </a:t>
            </a:r>
            <a:r>
              <a:rPr lang="en-US" sz="1400" dirty="0" err="1">
                <a:solidFill>
                  <a:srgbClr val="3F3F3F"/>
                </a:solidFill>
                <a:latin typeface="Calibri"/>
              </a:rPr>
              <a:t>NaNs</a:t>
            </a:r>
            <a:r>
              <a:rPr lang="en-US" sz="1400" dirty="0">
                <a:solidFill>
                  <a:srgbClr val="3F3F3F"/>
                </a:solidFill>
                <a:latin typeface="Calibri"/>
              </a:rPr>
              <a:t>, which would have to be removed if the entire columns are empty</a:t>
            </a:r>
          </a:p>
          <a:p>
            <a:pPr marL="746125" lvl="1" indent="-28892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3F3F3F"/>
                </a:solidFill>
                <a:latin typeface="Calibri"/>
              </a:rPr>
              <a:t>There are multiple columns for similar information (e.g. three columns for NPI ID, four columns for claim dates), which requires careful analysis to determine which ones to use</a:t>
            </a:r>
          </a:p>
          <a:p>
            <a:pPr marL="746125" lvl="1" indent="-288925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3F3F3F"/>
                </a:solidFill>
                <a:latin typeface="Calibri"/>
              </a:rPr>
              <a:t>HCPCS codes contain both numeric and alphanumeric codes, which would require some digging to determine 1) whether they are HCPCS codes, and 2) what they mean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E675A3-F29E-F22A-D2E1-8BE0DCCFE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27" y="1153626"/>
            <a:ext cx="1067752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433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9601B293-D4C4-B0EF-FD68-842162FDA241}"/>
              </a:ext>
            </a:extLst>
          </p:cNvPr>
          <p:cNvSpPr txBox="1"/>
          <p:nvPr/>
        </p:nvSpPr>
        <p:spPr>
          <a:xfrm>
            <a:off x="428035" y="1369743"/>
            <a:ext cx="10922451" cy="46452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182880" tIns="91440" rIns="182880" bIns="9144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Similarities</a:t>
            </a:r>
          </a:p>
          <a:p>
            <a:pPr marL="2889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rgbClr val="3F3F3F"/>
                </a:solidFill>
                <a:latin typeface="Calibri"/>
              </a:rPr>
              <a:t>Claims data from around years 2016 to 2018</a:t>
            </a:r>
          </a:p>
          <a:p>
            <a:pPr marL="2889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rgbClr val="3F3F3F"/>
                </a:solidFill>
                <a:latin typeface="Calibri"/>
              </a:rPr>
              <a:t>Has columns such as claim ID, claim dates, HCPCS codes, and patient ID</a:t>
            </a:r>
          </a:p>
          <a:p>
            <a:pPr marL="2889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rgbClr val="3F3F3F"/>
                </a:solidFill>
                <a:latin typeface="Calibri"/>
              </a:rPr>
              <a:t>HCPCS codes can be sorted into similar categories</a:t>
            </a:r>
          </a:p>
          <a:p>
            <a:pPr marL="2889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2000" dirty="0">
                <a:solidFill>
                  <a:srgbClr val="3F3F3F"/>
                </a:solidFill>
                <a:latin typeface="Calibri"/>
              </a:rPr>
              <a:t>Differences</a:t>
            </a:r>
          </a:p>
          <a:p>
            <a:pPr marL="2889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Difference “sources”, formatting, column name convention</a:t>
            </a:r>
          </a:p>
          <a:p>
            <a:pPr marL="2889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TUVA has details on place of service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A437B-3FC2-40C1-AE8F-0DEF2D85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Medicare vs TUVA Claims</a:t>
            </a:r>
          </a:p>
        </p:txBody>
      </p:sp>
    </p:spTree>
    <p:extLst>
      <p:ext uri="{BB962C8B-B14F-4D97-AF65-F5344CB8AC3E}">
        <p14:creationId xmlns:p14="http://schemas.microsoft.com/office/powerpoint/2010/main" val="2808516408"/>
      </p:ext>
    </p:extLst>
  </p:cSld>
  <p:clrMapOvr>
    <a:masterClrMapping/>
  </p:clrMapOvr>
</p:sld>
</file>

<file path=ppt/theme/theme1.xml><?xml version="1.0" encoding="utf-8"?>
<a:theme xmlns:a="http://schemas.openxmlformats.org/drawingml/2006/main" name="Axtria Primary Theme">
  <a:themeElements>
    <a:clrScheme name="Custom 5">
      <a:dk1>
        <a:srgbClr val="3F3F3F"/>
      </a:dk1>
      <a:lt1>
        <a:srgbClr val="FFFFFF"/>
      </a:lt1>
      <a:dk2>
        <a:srgbClr val="3F3F3F"/>
      </a:dk2>
      <a:lt2>
        <a:srgbClr val="DCE3E4"/>
      </a:lt2>
      <a:accent1>
        <a:srgbClr val="216D62"/>
      </a:accent1>
      <a:accent2>
        <a:srgbClr val="00B050"/>
      </a:accent2>
      <a:accent3>
        <a:srgbClr val="F47421"/>
      </a:accent3>
      <a:accent4>
        <a:srgbClr val="FF9C1A"/>
      </a:accent4>
      <a:accent5>
        <a:srgbClr val="035481"/>
      </a:accent5>
      <a:accent6>
        <a:srgbClr val="34B2E5"/>
      </a:accent6>
      <a:hlink>
        <a:srgbClr val="003760"/>
      </a:hlink>
      <a:folHlink>
        <a:srgbClr val="0070C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3634</TotalTime>
  <Words>518</Words>
  <Application>Microsoft Office PowerPoint</Application>
  <PresentationFormat>Widescreen</PresentationFormat>
  <Paragraphs>44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Courier New</vt:lpstr>
      <vt:lpstr>Franklin Gothic Book</vt:lpstr>
      <vt:lpstr>Franklin Gothic Demi</vt:lpstr>
      <vt:lpstr>Franklin Gothic Heavy</vt:lpstr>
      <vt:lpstr>Wingdings</vt:lpstr>
      <vt:lpstr>Axtria Primary Theme</vt:lpstr>
      <vt:lpstr>Syntegra Data – Overview</vt:lpstr>
      <vt:lpstr>Syntegra Data #1. Medicare CCLF Claims</vt:lpstr>
      <vt:lpstr>Syntegra Data #2. TUVA Claims</vt:lpstr>
      <vt:lpstr>Medicare vs TUVA Claims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Syntegra Data – Overview</dc:title>
  <dc:creator>Juhyun So</dc:creator>
  <cp:lastModifiedBy>Koshal, Sanjiv [JANUS]</cp:lastModifiedBy>
  <cp:revision>6</cp:revision>
  <dcterms:created xsi:type="dcterms:W3CDTF">2023-07-18T12:19:11Z</dcterms:created>
  <dcterms:modified xsi:type="dcterms:W3CDTF">2023-08-07T15:56:24Z</dcterms:modified>
</cp:coreProperties>
</file>